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23"/>
    <p:sldId id="265" r:id="rId11"/>
    <p:sldId id="266" r:id="rId12"/>
    <p:sldId id="267" r:id="rId13"/>
    <p:sldId id="268" r:id="rId14"/>
    <p:sldId id="271" r:id="rId22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g_ats_score.jp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g_screenshot1.jpg"/><Relationship Id="rId4" Type="http://schemas.openxmlformats.org/officeDocument/2006/relationships/image" Target="../media/img_screenshot2.jp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g_sequence_diagram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63D61">
              <a:alpha val="70000"/>
            </a:srgbClr>
          </a:solidFill>
          <a:ln w="12700">
            <a:solidFill>
              <a:srgbClr val="163D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D2B4A">
              <a:alpha val="80000"/>
            </a:srgbClr>
          </a:solidFill>
          <a:ln w="12700">
            <a:solidFill>
              <a:srgbClr val="0D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spc="300" kern="0" dirty="0">
                <a:solidFill>
                  <a:srgbClr val="A8CA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RESUME ANALYSER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JOB RECOMMENDATION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4572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A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3657600" cy="1005840"/>
          </a:xfrm>
          <a:prstGeom prst="rect">
            <a:avLst/>
          </a:prstGeom>
          <a:solidFill>
            <a:srgbClr val="163D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39312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N. DANIEL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Reg. No: 2302112010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3611880"/>
            <a:ext cx="4389120" cy="1005840"/>
          </a:xfrm>
          <a:prstGeom prst="rect">
            <a:avLst/>
          </a:prstGeom>
          <a:solidFill>
            <a:srgbClr val="163D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639312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 AADISHWARAN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Reg. No: 2302112004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AF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 Year 2025 –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Resume Analyser &amp; Job Recommendation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2320" y="4910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64592"/>
            <a:ext cx="8732520" cy="658368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859536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384048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05840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04241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1719072"/>
            <a:ext cx="384048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71907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7556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" y="2432304"/>
            <a:ext cx="384048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432304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4688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3145536"/>
            <a:ext cx="384048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145536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1821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" y="3858768"/>
            <a:ext cx="384048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85876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8953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Requirements Specification (SRS)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384048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005840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10424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719072"/>
            <a:ext cx="384048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71907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17556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Implementation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2432304"/>
            <a:ext cx="384048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432304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24688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and Results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145536"/>
            <a:ext cx="384048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145536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12080" y="31821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Enhancements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3858768"/>
            <a:ext cx="384048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85876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12080" y="38953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Resume Analyser &amp; Job Recommendation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2320" y="4910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64592"/>
            <a:ext cx="8732520" cy="658368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859536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18288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14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DOMAIN: AI / NLP / WEB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2801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rapid growth of the digital job market has made Applicant Tracking Systems (ATS) the primary gatekeepers of modern hiring. Over 75% of resumes are rejected by ATS before reaching a human reviewer, creating a major barrier for qualified candidates.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1993392"/>
            <a:ext cx="2697480" cy="137160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993392"/>
            <a:ext cx="2697480" cy="45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6654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340864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candidates are unaware of ATS keyword requirements. Qualified profiles are rejected due to poor formatting and missing skills rather than lack of capability.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54680" y="1993392"/>
            <a:ext cx="2697480" cy="137160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993392"/>
            <a:ext cx="26974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06654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2340864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NLP and LLMs now enable intelligent, automated resume analysis. Real-time job APIs provide up-to-date matching. Free AI APIs make this accessible to everyone.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1993392"/>
            <a:ext cx="2697480" cy="137160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993392"/>
            <a:ext cx="269748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06654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2340864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unified platform that parses resumes with spaCy NLP, matches jobs via Adzuna API, scores ATS compatibility, and coaches users via Groq LLM — completely free.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3456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Technologies Used: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374904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DDEE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749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+ Flask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77440" y="374904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DDEE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3749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spaCy NLP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26280" y="374904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DDEE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3749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Adzuna API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75120" y="374904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DDEE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3749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Groq LLM (llama-3.1-8b)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Resume Analyser &amp; Job Recommendation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2320" y="4910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64592"/>
            <a:ext cx="8732520" cy="658368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859536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97680" cy="117043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384048" cy="11704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960120"/>
            <a:ext cx="38404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051560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an intelligent web system to analyse resumes using NLP (spaCy) and extract skills, keywords, and professional entities.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297680" cy="117043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60120"/>
            <a:ext cx="384048" cy="11704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960120"/>
            <a:ext cx="38404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66360" y="1051560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 with the Adzuna Jobs API to fetch real-time job listings matching the candidate's extracted skill profile.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2221992"/>
            <a:ext cx="4297680" cy="1170432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221992"/>
            <a:ext cx="384048" cy="11704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221992"/>
            <a:ext cx="38404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2313432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 an ATS compatibility score comparing resume skills against matched job requirements.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221992"/>
            <a:ext cx="4297680" cy="1170432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221992"/>
            <a:ext cx="384048" cy="11704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221992"/>
            <a:ext cx="38404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66360" y="2313432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Groq LLM to generate personalised feedback covering skill gaps, resume tips, and career strategy.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8600" y="3483864"/>
            <a:ext cx="4297680" cy="117043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483864"/>
            <a:ext cx="384048" cy="11704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483864"/>
            <a:ext cx="38404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3575304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 an interactive AI Career Assistant chatbot to answer queries about scores, jobs, and improvement.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3483864"/>
            <a:ext cx="4297680" cy="117043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483864"/>
            <a:ext cx="384048" cy="11704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483864"/>
            <a:ext cx="38404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66360" y="3575304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 a visual dashboard with job cards showing match %, salary ranges, and direct apply links.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Resume Analyser &amp; Job Recommendation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2320" y="4910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64592"/>
            <a:ext cx="8732520" cy="658368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859536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27432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0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 / Platform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71800" y="960120"/>
            <a:ext cx="292608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9601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Feature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97880" y="960120"/>
            <a:ext cx="310896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9601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1307592"/>
            <a:ext cx="2743200" cy="54864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350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LinkedIn Resume Builder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71800" y="1307592"/>
            <a:ext cx="2926080" cy="54864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33502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Template creation + profile matching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1307592"/>
            <a:ext cx="3108960" cy="54864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33502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ATS scoring or real-time feedback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187452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9019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Jobscan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71800" y="187452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19019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keyword match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97880" y="1874520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9019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job input required; subscription-based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2441448"/>
            <a:ext cx="2743200" cy="54864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Resume Worded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71800" y="2441448"/>
            <a:ext cx="2926080" cy="54864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2468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grammar &amp; keyword suggestions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97880" y="2441448"/>
            <a:ext cx="3108960" cy="54864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468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live job integration; limited LLM feedback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3008376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0358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Indeed Resume Upload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71800" y="3008376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30358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Basic resume parsing + job matching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97880" y="3008376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03580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skill gap analysis or personal coaching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8600" y="3575304"/>
            <a:ext cx="2743200" cy="54864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60273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Zety / Novoresume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71800" y="3575304"/>
            <a:ext cx="2926080" cy="54864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360273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Stylish templates &amp; design tips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97880" y="3575304"/>
            <a:ext cx="3108960" cy="54864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360273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ATS scoring, no career coaching features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28600" y="4251960"/>
            <a:ext cx="864108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2702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4E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  Key Gap: No existing free tool combines ATS scoring + live job matching + conversational AI career coaching in a single platform.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Resume Analyser &amp; Job Recommendation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2320" y="4910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64592"/>
            <a:ext cx="8732520" cy="658368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859536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9144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fully free, end-to-end intelligent platform combining resume NLP analysis, live job matching, ATS scoring, and AI career coaching.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8600" y="1389888"/>
            <a:ext cx="2743200" cy="141732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389888"/>
            <a:ext cx="2743200" cy="5486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81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Resume Parsing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18105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spaCy NLP extracts skills, titles, experience, and education entities automatically from PDF/DOCX uploads.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1389888"/>
            <a:ext cx="2743200" cy="141732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389888"/>
            <a:ext cx="27432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481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Job Matching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6120" y="18105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Adzuna API fetches real-time job postings matched to extracted skills across all industries.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389888"/>
            <a:ext cx="2743200" cy="141732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389888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481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Score Computation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72200" y="181051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Jaccard similarity computes a transparent % match between resume skills and job requirements.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2898648"/>
            <a:ext cx="2743200" cy="141732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898648"/>
            <a:ext cx="2743200" cy="5486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990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Groq LLM Feedback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331927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llama-3.1-8b generates personalised career advice, skill gap analysis, and interview prep tips.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2898648"/>
            <a:ext cx="2743200" cy="141732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898648"/>
            <a:ext cx="27432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990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Career Assistant Bot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46120" y="331927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chatbot answers user queries about scores, strategies, and job opportunities.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2898648"/>
            <a:ext cx="2743200" cy="141732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898648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990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Professional Dashboard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72200" y="331927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 cards display salary, location, match %, employment type, and direct Apply links.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Resume Analyser &amp; Job Recommendation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2320" y="4910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64592"/>
            <a:ext cx="8732520" cy="658368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859536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Requirements Specification (SRS)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932688"/>
            <a:ext cx="420624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326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1261872"/>
            <a:ext cx="4160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Accept resume uploads in PDF or DOCX format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 skills, entities, and keywords using spaCy NLP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 Adzuna Jobs API with extracted keywords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 ATS match score (0–100%) per job listing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personalised LLM feedback via Groq API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 job dashboard with match %, salary, apply link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 interactive AI Career Assistant chatbot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932688"/>
            <a:ext cx="420624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326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98448"/>
            <a:ext cx="4206240" cy="493776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4416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134416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End-to-end analysis under 10 seconds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847088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9280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7880" y="189280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Flask supports concurrent user sessions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395728"/>
            <a:ext cx="4206240" cy="493776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44144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244144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Session-based; no permanent resume storage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944368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99008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97880" y="299008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 uptime with free API tiers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493008"/>
            <a:ext cx="4206240" cy="493776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53872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Portability: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353872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 on Linux / Windows / macOS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4041648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08736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Usability: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97880" y="408736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Intuitive dark-themed responsive UI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Resume Analyser &amp; Job Recommendation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2320" y="4910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64592"/>
            <a:ext cx="8732520" cy="658368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859536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Requirements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932688"/>
            <a:ext cx="416052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3268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Requirements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280160"/>
            <a:ext cx="4160520" cy="493776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2588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Processor: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132588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Intel Core i3 / 2.0 GHz+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1828800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7452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RAM: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187452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GB min — 8 GB recommended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377440"/>
            <a:ext cx="4160520" cy="493776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42316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24231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GB free disk space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926080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97180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54480" y="297180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Stable internet (for API calls)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474720"/>
            <a:ext cx="4160520" cy="493776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52044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10 / Ubuntu 20.04 / macOS 11+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932688"/>
            <a:ext cx="41605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93268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Requirements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280160"/>
            <a:ext cx="4160520" cy="43891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31673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13167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3.9+ – Core backend language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1755648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79222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Flask: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17922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2.3.x – Web framework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231136"/>
            <a:ext cx="4160520" cy="43891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2677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spaCy: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22677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3.x – NLP engine (en_core_web_sm)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2706624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Groq SDK: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3796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Latest – LLM inference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3182112"/>
            <a:ext cx="4160520" cy="43891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2186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Adzuna API: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37960" y="32186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v1 – Live job listings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365760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69417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HTML/CSS/JS: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37960" y="36941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UI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4133088"/>
            <a:ext cx="4160520" cy="43891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1696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PyMuPDF / python-docx: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37960" y="416966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Resume text extraction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Resume Analyser &amp; Job Recommendation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2320" y="4910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64592"/>
            <a:ext cx="8732520" cy="658368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859536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 – Architecture &amp; Workflow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9144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— Five-Component 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" y="1261872"/>
            <a:ext cx="155448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" y="126187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" y="18562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A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HTML/CSS/JS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73936" y="1719072"/>
            <a:ext cx="173736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5960" y="1261872"/>
            <a:ext cx="155448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65960" y="126187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18562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A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38728" y="1719072"/>
            <a:ext cx="173736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0752" y="1261872"/>
            <a:ext cx="155448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30752" y="126187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NLP Engine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(spaCy)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30752" y="18562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A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 Extraction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0" y="1719072"/>
            <a:ext cx="173736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95544" y="1261872"/>
            <a:ext cx="155448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95544" y="126187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Adzuna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95544" y="18562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A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Jobs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68312" y="1719072"/>
            <a:ext cx="173736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60336" y="1261872"/>
            <a:ext cx="155448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60336" y="126187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Groq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60336" y="18562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A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Feedback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" y="23042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Flow Sequence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2670048"/>
            <a:ext cx="256032" cy="25603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26700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User uploads resume (PDF/DOCX) via the web interface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3127248"/>
            <a:ext cx="256032" cy="25603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1272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Flask Backend receives file → forwards to spaCy NLP engine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" y="3584448"/>
            <a:ext cx="256032" cy="25603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584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spaCy extracts skills, entities, and keywords → returns JSON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4041648"/>
            <a:ext cx="256032" cy="25603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0416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Backend queries Adzuna API with extracted skill keywords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2670048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47488" y="26700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Adzuna returns live job listings matching the skill profile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3127248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47488" y="3127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Backend sends resume + jobs to Groq LLM for ATS gap analysis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3584448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47488" y="3584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Groq LLM returns score, feedback, and career recommendations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4041648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47488" y="4041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Dashboard renders job cards; Career Assistant chatbot is activated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Resume Analyser &amp; Job Recommendation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2320" y="4910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64592"/>
            <a:ext cx="8732520" cy="658368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859536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 – Module Description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51960" cy="80467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960120"/>
            <a:ext cx="73152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" y="10058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Resume Upload Module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4904" y="126187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Handles file upload, format validation (PDF/DOCX), and secure temporary session storage.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81728" y="96012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960120"/>
            <a:ext cx="73152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0058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NLP Processing Module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126187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spaCy tokenises text, applies NER and PhraseMatcher to extract skills, job titles, and entities.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1856232"/>
            <a:ext cx="4251960" cy="80467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856232"/>
            <a:ext cx="73152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19019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 Matching Module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74904" y="215798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Constructs Adzuna API queries from top-ranked extracted skills; retrieves live job postings.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1856232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1856232"/>
            <a:ext cx="73152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9019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Scoring Engine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28032" y="215798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Computes Jaccard similarity between resume skill set and job description keywords for ATS score.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752344"/>
            <a:ext cx="4251960" cy="80467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752344"/>
            <a:ext cx="73152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" y="279806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Feedback Module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74904" y="305409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Sends structured resume-job gap data to Groq API; parses and formats personalised AI feedback.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81728" y="2752344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1728" y="2752344"/>
            <a:ext cx="73152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279806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Module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28032" y="305409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Renders job cards with match %, salary, location, employment type tags, and apply buttons.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0" y="3648456"/>
            <a:ext cx="4114800" cy="80467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0" y="3648456"/>
            <a:ext cx="73152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06624" y="369417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Career Assistant Module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706624" y="395020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Manages chatbot conversation state; routes user queries to Groq LLM with session context.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Resume Analyser &amp; Job Recommendation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2320" y="4910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64592"/>
            <a:ext cx="8732520" cy="658368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859536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Implementation – Tools &amp; Technologies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932688"/>
            <a:ext cx="416052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3268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1261872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 Code – Primary IDE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Postman – API Testing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 / GitHub – Version Control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Colab – NLP Prototyping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Figma – UI/UX Wireframes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Chrome DevTools – Frontend Debug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932688"/>
            <a:ext cx="41605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3268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98448"/>
            <a:ext cx="4160520" cy="43891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3502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3.9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12280" y="133502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backend language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773936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105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Flask 2.3.x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12280" y="18105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WSGI Web Framework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249424"/>
            <a:ext cx="4160520" cy="43891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spaCy (en_core_web_sm)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1228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NLP Engine – NER &amp; skill extraction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724912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7614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Groq API (llama-3.1-8b)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12280" y="27614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inference – feedback &amp; chatbot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200400"/>
            <a:ext cx="4160520" cy="43891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2369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Adzuna Jobs API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12280" y="323697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live job listings (REST)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675888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7124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HTML5 / CSS3 / JS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12280" y="371246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responsive UI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4151376"/>
            <a:ext cx="4160520" cy="43891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1879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PyMuPDF / python-docx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12280" y="41879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Resume text extraction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Resume Analyser &amp; Job Recommendation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2320" y="4910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64592"/>
            <a:ext cx="8732520" cy="658368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859536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Algorithm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932688"/>
            <a:ext cx="864108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3268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Approach — Dynamic Pipeline (No Static Dataset)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2697480" cy="96012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298448"/>
            <a:ext cx="26974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3716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Resume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Sourced from user-uploaded PDF/DOCX. Text extracted via PyMuPDF or python-docx, processed by spaCy.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1298448"/>
            <a:ext cx="2697480" cy="96012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298448"/>
            <a:ext cx="26974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3716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 Listings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Fetched in real-time from Adzuna API using extracted skills. Always current — never stale or pre-cached.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1298448"/>
            <a:ext cx="2697480" cy="96012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298448"/>
            <a:ext cx="26974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3716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 Vocabulary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1645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spaCy en_core_web_sm supplemented with a custom PhraseMatcher covering 500+ technical and soft skills.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2359152"/>
            <a:ext cx="864108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3591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 — 7-Step Processing Pipeline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2743200"/>
            <a:ext cx="329184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743200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" y="276148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 Extraction: Raw text extracted from uploaded resume via PyMuPDF / python-docx.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3227832"/>
            <a:ext cx="329184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227832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" y="32461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NLP Processing: spaCy applies tokenisation, POS tagging, NER, and PhraseMatcher for skill identification.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" y="3712464"/>
            <a:ext cx="329184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3712464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" y="373075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Keyword Set: Extracted skills ranked by frequency → top-N keyword set constructed.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" y="4197096"/>
            <a:ext cx="329184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4197096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" y="421538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Query: Adzuna API queried with keyword set → job listings returned as JSON.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2743200"/>
            <a:ext cx="329184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743200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02352" y="2761488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Score: Jaccard similarity = |resume_skills ∩ job_skills| / |resume_skills ∪ job_skills| × 100.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09160" y="3227832"/>
            <a:ext cx="329184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227832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02352" y="3246120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Analysis: Resume text + job matches sent to Groq LLM with structured prompt for gap analysis.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09160" y="3712464"/>
            <a:ext cx="329184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712464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02352" y="3730752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Rendering: All data returned as JSON → frontend renders dashboard and chatbot.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Resume Analyser &amp; Job Recommendation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2320" y="4910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164592"/>
            <a:ext cx="8732520" cy="658368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4592"/>
            <a:ext cx="859536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and Results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932688"/>
            <a:ext cx="86410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326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93268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9326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234440"/>
            <a:ext cx="822960" cy="34747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26187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TC-01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1234440"/>
            <a:ext cx="5760720" cy="34747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126187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Upload valid PDF resume → Skills extracted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234440"/>
            <a:ext cx="205740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26187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1600200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62763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TC-02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51560" y="1600200"/>
            <a:ext cx="5760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162763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Upload invalid file format (.txt) → Error shown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1600200"/>
            <a:ext cx="205740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62763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1965960"/>
            <a:ext cx="822960" cy="34747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993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TC-03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51560" y="1965960"/>
            <a:ext cx="5760720" cy="34747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199339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 skills from Python-focused resume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12280" y="1965960"/>
            <a:ext cx="205740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199339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2331720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35915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TC-04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51560" y="2331720"/>
            <a:ext cx="5760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235915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Adzuna API job retrieval with valid skills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12280" y="2331720"/>
            <a:ext cx="205740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3591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2697480"/>
            <a:ext cx="822960" cy="34747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7249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TC-05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51560" y="2697480"/>
            <a:ext cx="5760720" cy="34747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272491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score computation returns 0–100%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12280" y="2697480"/>
            <a:ext cx="205740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272491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" y="3063240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09067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TC-06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51560" y="3063240"/>
            <a:ext cx="5760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7280" y="309067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Groq LLM feedback generation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12280" y="3063240"/>
            <a:ext cx="205740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309067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" y="3429000"/>
            <a:ext cx="822960" cy="34747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45643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TC-07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51560" y="3429000"/>
            <a:ext cx="5760720" cy="347472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97280" y="345643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Career Chatbot query response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12280" y="3429000"/>
            <a:ext cx="205740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345643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28600" y="3794760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8221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TC-08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51560" y="3794760"/>
            <a:ext cx="5760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97280" y="382219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job card rendering and Apply link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812280" y="3794760"/>
            <a:ext cx="205740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0" y="382219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28600" y="4206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Metrics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28600" y="449884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ATS Score Accuracy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246120" y="4498848"/>
            <a:ext cx="4114800" cy="146304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46120" y="4498848"/>
            <a:ext cx="3579876" cy="1463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06640" y="449884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87%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28600" y="470001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 Extraction Precision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246120" y="4700016"/>
            <a:ext cx="4114800" cy="146304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46120" y="4700016"/>
            <a:ext cx="3456432" cy="1463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06640" y="4700016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84%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228600" y="4901184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Satisfaction (UAT)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246120" y="4901184"/>
            <a:ext cx="4114800" cy="146304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46120" y="4901184"/>
            <a:ext cx="3538728" cy="1463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06640" y="4901184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86%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28600" y="4224528"/>
            <a:ext cx="2011680" cy="59436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28600" y="42245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~2.3s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228600" y="45902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NLP Processing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377440" y="4224528"/>
            <a:ext cx="2011680" cy="59436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77440" y="42245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~1.8s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2377440" y="45902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 Retrieval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526280" y="4224528"/>
            <a:ext cx="2011680" cy="594360"/>
          </a:xfrm>
          <a:prstGeom prst="rect">
            <a:avLst/>
          </a:prstGeom>
          <a:solidFill>
            <a:srgbClr val="EAF3FB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26280" y="42245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~3.1s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4526280" y="45902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Feedback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675120" y="4224528"/>
            <a:ext cx="2011680" cy="594360"/>
          </a:xfrm>
          <a:prstGeom prst="rect">
            <a:avLst/>
          </a:prstGeom>
          <a:solidFill>
            <a:srgbClr val="1F4E79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75120" y="42245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~7.5s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675120" y="45902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A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End-to-End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ystem Output Screensho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BottomBar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HeaderBar"/>
          <p:cNvSpPr/>
          <p:nvPr/>
        </p:nvSpPr>
        <p:spPr>
          <a:xfrm>
            <a:off x="109728" y="0"/>
            <a:ext cx="9034272" cy="548640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</p:sp>
      <p:sp>
        <p:nvSpPr>
          <p:cNvPr id="5" name="HeaderTitle"/>
          <p:cNvSpPr/>
          <p:nvPr/>
        </p:nvSpPr>
        <p:spPr>
          <a:xfrm>
            <a:off x="182880" y="60960"/>
            <a:ext cx="700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Times New Roman" pitchFamily="34" charset="0"/>
              </a:rPr>
              <a:t>ATS Resume Analyser &amp; Job Recommendation System</a:t>
            </a:r>
          </a:p>
        </p:txBody>
      </p:sp>
      <p:sp>
        <p:nvSpPr>
          <p:cNvPr id="6" name="SectionTitle"/>
          <p:cNvSpPr/>
          <p:nvPr/>
        </p:nvSpPr>
        <p:spPr>
          <a:xfrm>
            <a:off x="182880" y="580000"/>
            <a:ext cx="88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Times New Roman" pitchFamily="34" charset="0"/>
              </a:rPr>
              <a:t>Screenshots – System Output</a:t>
            </a:r>
          </a:p>
        </p:txBody>
      </p:sp>
      <p:pic>
        <p:nvPicPr>
          <p:cNvPr id="7" name="ATSScoreScreenshot"/>
          <p:cNvPicPr>
            <a:picLocks noChangeAspect="0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40000"/>
            <a:ext cx="8778240" cy="3580000"/>
          </a:xfrm>
          <a:prstGeom prst="rect">
            <a:avLst/>
          </a:prstGeom>
          <a:ln w="19050">
            <a:solidFill>
              <a:srgbClr val="1F4E79"/>
            </a:solidFill>
          </a:ln>
        </p:spPr>
      </p:pic>
      <p:sp>
        <p:nvSpPr>
          <p:cNvPr id="8" name="Caption"/>
          <p:cNvSpPr/>
          <p:nvPr/>
        </p:nvSpPr>
        <p:spPr>
          <a:xfrm>
            <a:off x="182880" y="4660000"/>
            <a:ext cx="877824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0" i="1" dirty="0">
                <a:solidFill>
                  <a:srgbClr val="1F4E79"/>
                </a:solidFill>
                <a:latin typeface="Times New Roman" pitchFamily="34" charset="0"/>
              </a:rPr>
              <a:t>Fig: ATS Analyse Dashboard — ATS Score 92/100, Keyword Match, Format Score, Experience, Education &amp; Impact Score with skill gap analysis</a:t>
            </a:r>
          </a:p>
        </p:txBody>
      </p:sp>
      <p:sp>
        <p:nvSpPr>
          <p:cNvPr id="9" name="Footer"/>
          <p:cNvSpPr/>
          <p:nvPr/>
        </p:nvSpPr>
        <p:spPr>
          <a:xfrm>
            <a:off x="182880" y="4900000"/>
            <a:ext cx="877824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Times New Roman" pitchFamily="34" charset="0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Enhancements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1874520"/>
          </a:xfrm>
          <a:prstGeom prst="rect">
            <a:avLst/>
          </a:prstGeom>
          <a:solidFill>
            <a:srgbClr val="163D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AF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33856"/>
            <a:ext cx="832104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ATS Resume Analyser and Job Recommendation System successfully integrates spaCy NLP, Adzuna live job API, and Groq LLM to deliver an end-to-end intelligent career assistance platform. It achieves 84% skill extraction precision, 87% ATS score accuracy, and ~7.5s end-to-end processing — all at zero cost to the user. The AI Career Assistant chatbot further elevates the experience with personalised, conversational coaching. The system democratises access to professional-grade resume intelligence for every job seeker.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2761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AF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3090672"/>
            <a:ext cx="4206240" cy="475488"/>
          </a:xfrm>
          <a:prstGeom prst="rect">
            <a:avLst/>
          </a:prstGeom>
          <a:solidFill>
            <a:srgbClr val="163D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3200400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31455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Resume Auto-Optimisation – Auto-rewrite resumes to maximise ATS scores for specific roles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3090672"/>
            <a:ext cx="4206240" cy="475488"/>
          </a:xfrm>
          <a:prstGeom prst="rect">
            <a:avLst/>
          </a:prstGeom>
          <a:solidFill>
            <a:srgbClr val="163D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3200400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0056" y="31455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Interview Simulator – LLM-powered mock interview with role-specific Q&amp;A evaluation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3639312"/>
            <a:ext cx="4206240" cy="475488"/>
          </a:xfrm>
          <a:prstGeom prst="rect">
            <a:avLst/>
          </a:prstGeom>
          <a:solidFill>
            <a:srgbClr val="163D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3749040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36941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 Development Roadmap – Personalised course &amp; certification recommendations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3639312"/>
            <a:ext cx="4206240" cy="475488"/>
          </a:xfrm>
          <a:prstGeom prst="rect">
            <a:avLst/>
          </a:prstGeom>
          <a:solidFill>
            <a:srgbClr val="163D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1728" y="3749040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36941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Multi-Language Support – NLP processing for resumes in multiple languages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4187952"/>
            <a:ext cx="4206240" cy="475488"/>
          </a:xfrm>
          <a:prstGeom prst="rect">
            <a:avLst/>
          </a:prstGeom>
          <a:solidFill>
            <a:srgbClr val="163D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4297680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42428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 Extension – Analyse resume against any job posting directly on the web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4187952"/>
            <a:ext cx="4206240" cy="475488"/>
          </a:xfrm>
          <a:prstGeom prst="rect">
            <a:avLst/>
          </a:prstGeom>
          <a:solidFill>
            <a:srgbClr val="163D6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4297680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0056" y="42428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 Culture Matching – Match candidates on values &amp; work style, not just skills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8600" y="482803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AF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  |  N. Daniel (2302112010)  &amp;  K. Aadishwaran (2302112004)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sting Screensho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Header Title"/>
          <p:cNvSpPr/>
          <p:nvPr/>
        </p:nvSpPr>
        <p:spPr>
          <a:xfrm>
            <a:off x="182880" y="60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ATS Resume Analyser &amp; Job Recommendation System</a:t>
            </a:r>
          </a:p>
        </p:txBody>
      </p:sp>
      <p:sp>
        <p:nvSpPr>
          <p:cNvPr id="6" name="Header Dept"/>
          <p:cNvSpPr/>
          <p:nvPr/>
        </p:nvSpPr>
        <p:spPr>
          <a:xfrm>
            <a:off x="6858000" y="60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CAEC"/>
                </a:solidFill>
                <a:latin typeface="Times New Roman" pitchFamily="34" charset="0"/>
              </a:rPr>
              <a:t/>
            </a:r>
          </a:p>
        </p:txBody>
      </p:sp>
      <p:sp>
        <p:nvSpPr>
          <p:cNvPr id="7" name="Section Title"/>
          <p:cNvSpPr/>
          <p:nvPr/>
        </p:nvSpPr>
        <p:spPr>
          <a:xfrm>
            <a:off x="182880" y="600000"/>
            <a:ext cx="88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</a:rPr>
              <a:t>Testing and Results – Screenshots</a:t>
            </a:r>
          </a:p>
        </p:txBody>
      </p:sp>
      <p:sp>
        <p:nvSpPr>
          <p:cNvPr id="8" name="Caption1"/>
          <p:cNvSpPr/>
          <p:nvPr/>
        </p:nvSpPr>
        <p:spPr>
          <a:xfrm>
            <a:off x="182880" y="1020000"/>
            <a:ext cx="4200000" cy="2800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Fig 1: Job Recommendations Dashboard</a:t>
            </a:r>
          </a:p>
        </p:txBody>
      </p:sp>
      <p:sp>
        <p:nvSpPr>
          <p:cNvPr id="9" name="Caption2"/>
          <p:cNvSpPr/>
          <p:nvPr/>
        </p:nvSpPr>
        <p:spPr>
          <a:xfrm>
            <a:off x="4761120" y="1020000"/>
            <a:ext cx="4200000" cy="2800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Fig 2: AI Career Assistant Chatbot</a:t>
            </a:r>
          </a:p>
        </p:txBody>
      </p:sp>
      <p:pic>
        <p:nvPicPr>
          <p:cNvPr id="10" name="Screenshot1"/>
          <p:cNvPicPr>
            <a:picLocks noChangeAspect="0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40000"/>
            <a:ext cx="4200000" cy="3380000"/>
          </a:xfrm>
          <a:prstGeom prst="rect">
            <a:avLst/>
          </a:prstGeom>
          <a:ln w="19050">
            <a:solidFill>
              <a:srgbClr val="1F4E79"/>
            </a:solidFill>
          </a:ln>
        </p:spPr>
      </p:pic>
      <p:pic>
        <p:nvPicPr>
          <p:cNvPr id="11" name="Screenshot2"/>
          <p:cNvPicPr>
            <a:picLocks noChangeAspect="0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120" y="1340000"/>
            <a:ext cx="4200000" cy="3380000"/>
          </a:xfrm>
          <a:prstGeom prst="rect">
            <a:avLst/>
          </a:prstGeom>
          <a:ln w="19050">
            <a:solidFill>
              <a:srgbClr val="1F4E79"/>
            </a:solidFill>
          </a:ln>
        </p:spPr>
      </p:pic>
      <p:sp>
        <p:nvSpPr>
          <p:cNvPr id="12" name="Footer"/>
          <p:cNvSpPr/>
          <p:nvPr/>
        </p:nvSpPr>
        <p:spPr>
          <a:xfrm>
            <a:off x="182880" y="4900000"/>
            <a:ext cx="88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AEC"/>
                </a:solidFill>
                <a:latin typeface="Times New Roman" pitchFamily="34" charset="0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ystem Design Sequence 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BottomBar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HeaderBar"/>
          <p:cNvSpPr/>
          <p:nvPr/>
        </p:nvSpPr>
        <p:spPr>
          <a:xfrm>
            <a:off x="109728" y="0"/>
            <a:ext cx="9034272" cy="548640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</p:sp>
      <p:sp>
        <p:nvSpPr>
          <p:cNvPr id="5" name="HeaderTitle"/>
          <p:cNvSpPr/>
          <p:nvPr/>
        </p:nvSpPr>
        <p:spPr>
          <a:xfrm>
            <a:off x="182880" y="60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Times New Roman" pitchFamily="34" charset="0"/>
              </a:rPr>
              <a:t>ATS Resume Analyser &amp; Job Recommendation System</a:t>
            </a:r>
          </a:p>
        </p:txBody>
      </p:sp>
      <p:sp>
        <p:nvSpPr>
          <p:cNvPr id="6" name="HeaderDept"/>
          <p:cNvSpPr/>
          <p:nvPr/>
        </p:nvSpPr>
        <p:spPr>
          <a:xfrm>
            <a:off x="6858000" y="60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Times New Roman" pitchFamily="34" charset="0"/>
              </a:rPr>
              <a:t/>
            </a:r>
          </a:p>
        </p:txBody>
      </p:sp>
      <p:sp>
        <p:nvSpPr>
          <p:cNvPr id="7" name="SectionTitle"/>
          <p:cNvSpPr/>
          <p:nvPr/>
        </p:nvSpPr>
        <p:spPr>
          <a:xfrm>
            <a:off x="182880" y="580000"/>
            <a:ext cx="88000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Times New Roman" pitchFamily="34" charset="0"/>
              </a:rPr>
              <a:t>System Design – Sequence Diagram</a:t>
            </a:r>
          </a:p>
        </p:txBody>
      </p:sp>
      <p:pic>
        <p:nvPicPr>
          <p:cNvPr id="8" name="SequenceDiagram"/>
          <p:cNvPicPr>
            <a:picLocks noChangeAspect="0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1040000"/>
            <a:ext cx="8778240" cy="3720000"/>
          </a:xfrm>
          <a:prstGeom prst="rect">
            <a:avLst/>
          </a:prstGeom>
          <a:ln w="19050">
            <a:solidFill>
              <a:srgbClr val="BDD7EE"/>
            </a:solidFill>
          </a:ln>
        </p:spPr>
      </p:pic>
      <p:sp>
        <p:nvSpPr>
          <p:cNvPr id="9" name="Caption"/>
          <p:cNvSpPr/>
          <p:nvPr/>
        </p:nvSpPr>
        <p:spPr>
          <a:xfrm>
            <a:off x="182880" y="4740000"/>
            <a:ext cx="877824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0" i="1" dirty="0">
                <a:solidFill>
                  <a:srgbClr val="1F4E79"/>
                </a:solidFill>
                <a:latin typeface="Times New Roman" pitchFamily="34" charset="0"/>
              </a:rPr>
              <a:t>Fig: End-to-End Data Flow Sequence — User → Flask Backend → NLP Engine → Adzuna API → Groq LLM</a:t>
            </a:r>
          </a:p>
        </p:txBody>
      </p:sp>
      <p:sp>
        <p:nvSpPr>
          <p:cNvPr id="10" name="Footer"/>
          <p:cNvSpPr/>
          <p:nvPr/>
        </p:nvSpPr>
        <p:spPr>
          <a:xfrm>
            <a:off x="182880" y="4900000"/>
            <a:ext cx="877824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Times New Roman" pitchFamily="34" charset="0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ATS Resume Analyser and Job Recommendation System</dc:title>
  <dc:subject>PptxGenJS Presentation</dc:subject>
  <dc:creator>N.Daniel, K.Aadishwaran</dc:creator>
  <cp:lastModifiedBy>N.Daniel, K.Aadishwaran</cp:lastModifiedBy>
  <cp:revision>1</cp:revision>
  <dcterms:created xsi:type="dcterms:W3CDTF">2026-05-03T04:21:31Z</dcterms:created>
  <dcterms:modified xsi:type="dcterms:W3CDTF">2026-05-03T04:21:31Z</dcterms:modified>
</cp:coreProperties>
</file>